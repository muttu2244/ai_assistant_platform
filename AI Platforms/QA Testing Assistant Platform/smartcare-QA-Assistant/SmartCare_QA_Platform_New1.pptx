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25" r:id="rId2"/>
    <p:sldId id="258" r:id="rId3"/>
    <p:sldId id="257" r:id="rId4"/>
    <p:sldId id="267" r:id="rId5"/>
    <p:sldId id="260" r:id="rId6"/>
    <p:sldId id="261" r:id="rId7"/>
    <p:sldId id="262" r:id="rId8"/>
    <p:sldId id="264" r:id="rId9"/>
    <p:sldId id="265" r:id="rId10"/>
    <p:sldId id="32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2:10:15.682"/>
    </inkml:context>
    <inkml:brush xml:id="br0">
      <inkml:brushProperty name="width" value="0.3" units="cm"/>
      <inkml:brushProperty name="height" value="0.6" units="cm"/>
      <inkml:brushProperty name="color" value="#F9F9F9"/>
      <inkml:brushProperty name="tip" value="rectangle"/>
      <inkml:brushProperty name="rasterOp" value="maskPen"/>
      <inkml:brushProperty name="ignorePressure" value="1"/>
    </inkml:brush>
  </inkml:definitions>
  <inkml:trace contextRef="#ctx0" brushRef="#br0">0 8 0,'1483'0'0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2:10:18.141"/>
    </inkml:context>
    <inkml:brush xml:id="br0">
      <inkml:brushProperty name="width" value="0.3" units="cm"/>
      <inkml:brushProperty name="height" value="0.6" units="cm"/>
      <inkml:brushProperty name="color" value="#F9F9F9"/>
      <inkml:brushProperty name="tip" value="rectangle"/>
      <inkml:brushProperty name="rasterOp" value="maskPen"/>
      <inkml:brushProperty name="ignorePressure" value="1"/>
    </inkml:brush>
  </inkml:definitions>
  <inkml:trace contextRef="#ctx0" brushRef="#br0">0 71 0,'1882'-70'0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07T12:10:26.633"/>
    </inkml:context>
    <inkml:brush xml:id="br0">
      <inkml:brushProperty name="width" value="0.3" units="cm"/>
      <inkml:brushProperty name="height" value="0.6" units="cm"/>
      <inkml:brushProperty name="color" value="#F9F9F9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18,'56'3,"1"2,-1 3,102 28,-120-29,1-1,0-2,60-2,-8 0,17 8,10 0,-23-8,-94-2,-1 0,0 0,0 0,0 0,0 0,0 0,0 0,0 0,1 0,-1 0,0 0,0 0,0 0,0 0,0 0,0 0,0 0,1 0,-1 0,0 0,0 0,0 0,0 0,0 0,0 0,0 0,0 0,1 0,-1 0,0 0,0 0,0-1,0 1,0 0,0 0,0 0,0 0,0 0,0 0,0 0,0 0,1-1,-1 1,0 0,0 0,0 0,0 0,0 0,0 0,0 0,0-1,0 1,0 0,0 0,0 0,0 0,0 0,0 0,-1 0,1-1,0 1,0 0,0 0,-9-8,-19-9,-21-9,-54-21,72 36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2:10:41.409"/>
    </inkml:context>
    <inkml:brush xml:id="br0">
      <inkml:brushProperty name="width" value="0.3" units="cm"/>
      <inkml:brushProperty name="height" value="0.6" units="cm"/>
      <inkml:brushProperty name="color" value="#F9F9F9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0,'1952'587'0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6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AFDD22C7-DD0E-011C-FD41-D4050049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>
            <a:extLst>
              <a:ext uri="{FF2B5EF4-FFF2-40B4-BE49-F238E27FC236}">
                <a16:creationId xmlns:a16="http://schemas.microsoft.com/office/drawing/2014/main" id="{D84CE0CB-3036-CBB7-338F-36E171816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8" name="Google Shape;208;p1:notes">
            <a:extLst>
              <a:ext uri="{FF2B5EF4-FFF2-40B4-BE49-F238E27FC236}">
                <a16:creationId xmlns:a16="http://schemas.microsoft.com/office/drawing/2014/main" id="{240747D4-F406-B592-03EE-D92E849C9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Looks good</a:t>
            </a:r>
            <a:endParaRPr/>
          </a:p>
        </p:txBody>
      </p:sp>
      <p:sp>
        <p:nvSpPr>
          <p:cNvPr id="209" name="Google Shape;209;p1:notes">
            <a:extLst>
              <a:ext uri="{FF2B5EF4-FFF2-40B4-BE49-F238E27FC236}">
                <a16:creationId xmlns:a16="http://schemas.microsoft.com/office/drawing/2014/main" id="{B29AE3FF-4806-5BE5-C93F-58C2F3FE9D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3283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05630092-8AAF-1222-F8F9-4648310D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>
            <a:extLst>
              <a:ext uri="{FF2B5EF4-FFF2-40B4-BE49-F238E27FC236}">
                <a16:creationId xmlns:a16="http://schemas.microsoft.com/office/drawing/2014/main" id="{3332B40A-FB62-BB17-54B3-672A5F3F2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8" name="Google Shape;208;p1:notes">
            <a:extLst>
              <a:ext uri="{FF2B5EF4-FFF2-40B4-BE49-F238E27FC236}">
                <a16:creationId xmlns:a16="http://schemas.microsoft.com/office/drawing/2014/main" id="{7027D44A-ABA4-0D52-7BA5-562A4A49BE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Looks good</a:t>
            </a:r>
            <a:endParaRPr/>
          </a:p>
        </p:txBody>
      </p:sp>
      <p:sp>
        <p:nvSpPr>
          <p:cNvPr id="209" name="Google Shape;209;p1:notes">
            <a:extLst>
              <a:ext uri="{FF2B5EF4-FFF2-40B4-BE49-F238E27FC236}">
                <a16:creationId xmlns:a16="http://schemas.microsoft.com/office/drawing/2014/main" id="{CE0BB0D7-3951-FC52-714F-D6E873EEBF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1934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30232"/>
              </a:gs>
              <a:gs pos="100000">
                <a:srgbClr val="4A066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20" descr="Icon&#10;&#10;Description automatically generated"/>
          <p:cNvPicPr preferRelativeResize="0"/>
          <p:nvPr/>
        </p:nvPicPr>
        <p:blipFill rotWithShape="1">
          <a:blip r:embed="rId2">
            <a:alphaModFix amt="20000"/>
          </a:blip>
          <a:srcRect l="21178" t="12259" r="17916" b="15886"/>
          <a:stretch/>
        </p:blipFill>
        <p:spPr>
          <a:xfrm>
            <a:off x="0" y="-2"/>
            <a:ext cx="5812972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0" descr="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346" y="312655"/>
            <a:ext cx="3101546" cy="108193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 txBox="1">
            <a:spLocks noGrp="1"/>
          </p:cNvSpPr>
          <p:nvPr>
            <p:ph type="ctrTitle"/>
          </p:nvPr>
        </p:nvSpPr>
        <p:spPr>
          <a:xfrm>
            <a:off x="2527852" y="3304097"/>
            <a:ext cx="9144000" cy="108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Light"/>
              <a:buNone/>
              <a:defRPr sz="3600" b="0" i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ubTitle" idx="1"/>
          </p:nvPr>
        </p:nvSpPr>
        <p:spPr>
          <a:xfrm>
            <a:off x="2527852" y="4386032"/>
            <a:ext cx="9144000" cy="56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20"/>
          <p:cNvSpPr txBox="1"/>
          <p:nvPr/>
        </p:nvSpPr>
        <p:spPr>
          <a:xfrm>
            <a:off x="303565" y="6520696"/>
            <a:ext cx="418187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800" b="0" i="0" u="none" strike="noStrike" cap="none">
                <a:solidFill>
                  <a:srgbClr val="9D96A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@ 2023 Streamline Healthcare Solutions. All Rights Reserved.</a:t>
            </a:r>
            <a:endParaRPr sz="800" b="0" i="0" u="none" strike="noStrike" cap="none">
              <a:solidFill>
                <a:srgbClr val="9D96A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355351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D1810930-11F7-4B56-1F61-3AF4137D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">
            <a:extLst>
              <a:ext uri="{FF2B5EF4-FFF2-40B4-BE49-F238E27FC236}">
                <a16:creationId xmlns:a16="http://schemas.microsoft.com/office/drawing/2014/main" id="{8E8F0651-A8B8-F3C5-F5B1-11C8449E8A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89777" y="5662382"/>
            <a:ext cx="9144000" cy="56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 K Vishnukumar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IN" dirty="0"/>
              <a:t>VP-QA</a:t>
            </a:r>
            <a:endParaRPr sz="1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6D099-5F0A-7B26-984A-FDF09FFC00D7}"/>
              </a:ext>
            </a:extLst>
          </p:cNvPr>
          <p:cNvSpPr txBox="1"/>
          <p:nvPr/>
        </p:nvSpPr>
        <p:spPr>
          <a:xfrm>
            <a:off x="1310640" y="1326008"/>
            <a:ext cx="216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SmartCare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BFB81E3D-58FB-1F02-218E-7CB4A7968CDB}"/>
              </a:ext>
            </a:extLst>
          </p:cNvPr>
          <p:cNvSpPr/>
          <p:nvPr/>
        </p:nvSpPr>
        <p:spPr>
          <a:xfrm>
            <a:off x="1300708" y="1890414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Testing Assistant</a:t>
            </a:r>
            <a:endParaRPr lang="en-US" sz="4200" dirty="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2129FD4B-9F4A-0990-57DA-7CEF745A03D3}"/>
              </a:ext>
            </a:extLst>
          </p:cNvPr>
          <p:cNvSpPr/>
          <p:nvPr/>
        </p:nvSpPr>
        <p:spPr>
          <a:xfrm>
            <a:off x="1310640" y="2731477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8CA7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3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EAF337-EAC9-5738-9865-6AF7FF2F4D50}"/>
              </a:ext>
            </a:extLst>
          </p:cNvPr>
          <p:cNvSpPr/>
          <p:nvPr/>
        </p:nvSpPr>
        <p:spPr>
          <a:xfrm>
            <a:off x="782320" y="3796331"/>
            <a:ext cx="2377440" cy="1669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8CA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Sanitization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096ABE-E3A9-D500-9AC8-51FC3A53FEF6}"/>
              </a:ext>
            </a:extLst>
          </p:cNvPr>
          <p:cNvSpPr/>
          <p:nvPr/>
        </p:nvSpPr>
        <p:spPr>
          <a:xfrm>
            <a:off x="3531100" y="3793010"/>
            <a:ext cx="2377440" cy="1669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CA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Features</a:t>
            </a:r>
            <a:endParaRPr lang="en-US" dirty="0"/>
          </a:p>
          <a:p>
            <a:pPr algn="ctr"/>
            <a:r>
              <a:rPr lang="en-US" dirty="0">
                <a:solidFill>
                  <a:srgbClr val="8CA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AI needed)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D473A4-ECCE-7028-7E3C-6A7D7A74D43A}"/>
              </a:ext>
            </a:extLst>
          </p:cNvPr>
          <p:cNvSpPr/>
          <p:nvPr/>
        </p:nvSpPr>
        <p:spPr>
          <a:xfrm>
            <a:off x="6279880" y="3771059"/>
            <a:ext cx="2282303" cy="1669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CA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AI Features</a:t>
            </a:r>
            <a:endParaRPr lang="en-US" dirty="0"/>
          </a:p>
          <a:p>
            <a:pPr algn="ctr"/>
            <a:r>
              <a:rPr lang="en-US" dirty="0">
                <a:solidFill>
                  <a:srgbClr val="8CA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Foundry)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F2FBD-5A41-A26F-4872-86B388C6EBFF}"/>
              </a:ext>
            </a:extLst>
          </p:cNvPr>
          <p:cNvSpPr/>
          <p:nvPr/>
        </p:nvSpPr>
        <p:spPr>
          <a:xfrm>
            <a:off x="8879840" y="3749108"/>
            <a:ext cx="2377440" cy="1669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CA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HIPAA Compliant</a:t>
            </a:r>
            <a:endParaRPr lang="en-US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FBDD645-15CE-E12D-8972-D59BC629434B}"/>
              </a:ext>
            </a:extLst>
          </p:cNvPr>
          <p:cNvSpPr/>
          <p:nvPr/>
        </p:nvSpPr>
        <p:spPr>
          <a:xfrm>
            <a:off x="1300708" y="3351084"/>
            <a:ext cx="658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HIPAA-Compliant  ·  Microsoft Presidio  ·  Azure AI Foundry  ·  Azure DevOps  ·  CI/CD Ready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59E5DC-72F5-A8C5-9DC8-79DD0AE10867}"/>
              </a:ext>
            </a:extLst>
          </p:cNvPr>
          <p:cNvSpPr/>
          <p:nvPr/>
        </p:nvSpPr>
        <p:spPr>
          <a:xfrm>
            <a:off x="8798788" y="1229360"/>
            <a:ext cx="2722652" cy="18795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kern="0" spc="30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TESTING</a:t>
            </a:r>
            <a:endParaRPr lang="en-US"/>
          </a:p>
          <a:p>
            <a:pPr algn="ctr"/>
            <a:r>
              <a:rPr lang="en-US" b="1" kern="0" spc="30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/>
          </a:p>
          <a:p>
            <a:pPr algn="ctr"/>
            <a:r>
              <a:rPr lang="en-US" b="1" kern="0" spc="30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8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36576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Sanitization Layer — Microsoft Presidio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1179576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ARCHITECTURE:  ADO data fetched FIRST → THEN sanitized by Presidio→ ONLY then sent to AI.  ONE Presidio layer only.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207008"/>
            <a:ext cx="1874520" cy="960120"/>
          </a:xfrm>
          <a:prstGeom prst="rect">
            <a:avLst/>
          </a:prstGeom>
          <a:solidFill>
            <a:srgbClr val="FAFAFA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6888" y="126187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688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26187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sends prompt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48840" y="1207008"/>
            <a:ext cx="1874520" cy="960120"/>
          </a:xfrm>
          <a:prstGeom prst="rect">
            <a:avLst/>
          </a:prstGeom>
          <a:solidFill>
            <a:srgbClr val="FAFAFA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12848" y="126187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1284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126187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RAW data from 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0" y="1207008"/>
            <a:ext cx="1874520" cy="960120"/>
          </a:xfrm>
          <a:prstGeom prst="rect">
            <a:avLst/>
          </a:prstGeom>
          <a:solidFill>
            <a:srgbClr val="FAFAFA"/>
          </a:solidFill>
          <a:ln w="1905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78808" y="1261872"/>
            <a:ext cx="347472" cy="34747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7880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126187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Presidio sanitizes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80760" y="1207008"/>
            <a:ext cx="1874520" cy="960120"/>
          </a:xfrm>
          <a:prstGeom prst="rect">
            <a:avLst/>
          </a:prstGeom>
          <a:solidFill>
            <a:srgbClr val="FAFAFA"/>
          </a:solidFill>
          <a:ln w="1905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44768" y="1261872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4476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126187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data → GPT-4o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0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1207008"/>
            <a:ext cx="1874520" cy="960120"/>
          </a:xfrm>
          <a:prstGeom prst="rect">
            <a:avLst/>
          </a:prstGeom>
          <a:solidFill>
            <a:srgbClr val="FAFAFA"/>
          </a:solidFill>
          <a:ln w="1905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110728" y="1261872"/>
            <a:ext cx="347472" cy="34747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11072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126187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sanitized again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21240" y="15544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8909C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12680" y="1207008"/>
            <a:ext cx="1874520" cy="960120"/>
          </a:xfrm>
          <a:prstGeom prst="rect">
            <a:avLst/>
          </a:prstGeom>
          <a:solidFill>
            <a:srgbClr val="FAFAFA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0076688" y="1261872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007668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69880" y="126187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response to user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2331720"/>
            <a:ext cx="7772400" cy="320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8288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Examples — Deterministic (same input = same dummy output, always)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2788920"/>
            <a:ext cx="379476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7432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Name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3099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Smith</a:t>
            </a: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Patient 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0" y="2788920"/>
            <a:ext cx="37947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20624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206240" y="3099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123-45-6789</a:t>
            </a: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XXX-XX-0001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46720" y="2788920"/>
            <a:ext cx="379476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13816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138160" y="3099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01/15/1985</a:t>
            </a: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01/01/2000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2880" y="3611880"/>
            <a:ext cx="37947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7432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74320" y="39227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john@hosp.com</a:t>
            </a: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test@dummy.com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14800" y="3611880"/>
            <a:ext cx="379476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20624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206240" y="39227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MRN-88421</a:t>
            </a: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ID-DUMMY-001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46720" y="3611880"/>
            <a:ext cx="37947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13816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138160" y="39227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555-123-4567</a:t>
            </a: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555-000-0001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82880" y="5916168"/>
            <a:ext cx="11795760" cy="384048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36220" y="5916168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with:  Python  ·  Microsoft Presidio (Open Source)  ·  Faker  ·  SHA-256 Hashing  ·  FastAPI  ·  Audit Logging (HIPAA)</a:t>
            </a:r>
            <a:endParaRPr lang="en-US" sz="105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4B6A7FA-E0AF-9D4B-FAF4-6A2A15163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533510"/>
            <a:ext cx="3177714" cy="2879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36576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SmartCare QA Testing Assistant — Solution 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256032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777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188720"/>
            <a:ext cx="1188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chat interface for all QA users — backed by ADO, Presidio, and Azure AI Foundry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691640"/>
            <a:ext cx="566928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2880" y="16916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✅  WORKS Without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2148840"/>
            <a:ext cx="5669280" cy="114300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2880" y="2148840"/>
            <a:ext cx="64008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2128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Lookup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25603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any ADO ID → fetch → Presidio sanitize → safe data returned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3383280"/>
            <a:ext cx="5669280" cy="114300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82880" y="3383280"/>
            <a:ext cx="64008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34472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37947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all User Stories with NO linked test cases — instant ADO WIQL query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4617720"/>
            <a:ext cx="5669280" cy="114300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82880" y="4617720"/>
            <a:ext cx="64008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46817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Summary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50292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 items for current sprint, sanitized — safe to share in any meeting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1691640"/>
            <a:ext cx="566928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 WITH AZURE AI FOUNDRY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148840"/>
            <a:ext cx="566928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09360" y="2148840"/>
            <a:ext cx="6400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73952" y="21945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Test Cases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73952" y="24871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describes scenario in plain English → AI generates structured test cases for ADO upload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081528"/>
            <a:ext cx="566928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09360" y="3081528"/>
            <a:ext cx="6400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73952" y="31272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3952" y="34198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test case → AI writes Selenium Java script following team coding standards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4014216"/>
            <a:ext cx="566928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309360" y="4014216"/>
            <a:ext cx="6400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73952" y="4059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73952" y="43525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ADO requirements → AI generates formatted user guide content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4946904"/>
            <a:ext cx="566928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309360" y="4946904"/>
            <a:ext cx="6400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73952" y="49926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 Summary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73952" y="52852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full test plan → plain English summary of coverage, gaps, risks</a:t>
            </a:r>
            <a:endParaRPr lang="en-US" sz="1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CF38198-805D-B383-7ED2-78D8D7715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533510"/>
            <a:ext cx="3177714" cy="2879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DDF8F0-EB72-94B6-9644-932F5E2C6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533510"/>
            <a:ext cx="3177714" cy="2879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130E728-2D59-3FCF-C432-418E49220698}"/>
                  </a:ext>
                </a:extLst>
              </p14:cNvPr>
              <p14:cNvContentPartPr/>
              <p14:nvPr/>
            </p14:nvContentPartPr>
            <p14:xfrm>
              <a:off x="4334800" y="863413"/>
              <a:ext cx="534240" cy="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130E728-2D59-3FCF-C432-418E492206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0800" y="647413"/>
                <a:ext cx="641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2E4DB2-5D73-A7DE-050C-AF07143A9233}"/>
                  </a:ext>
                </a:extLst>
              </p14:cNvPr>
              <p14:cNvContentPartPr/>
              <p14:nvPr/>
            </p14:nvContentPartPr>
            <p14:xfrm>
              <a:off x="4326160" y="837853"/>
              <a:ext cx="677520" cy="25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2E4DB2-5D73-A7DE-050C-AF07143A92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72160" y="730213"/>
                <a:ext cx="7851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3B8E6B-6A39-4A43-F85A-509E1A6ACF53}"/>
                  </a:ext>
                </a:extLst>
              </p14:cNvPr>
              <p14:cNvContentPartPr/>
              <p14:nvPr/>
            </p14:nvContentPartPr>
            <p14:xfrm>
              <a:off x="4334800" y="865573"/>
              <a:ext cx="345600" cy="41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3B8E6B-6A39-4A43-F85A-509E1A6ACF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81160" y="757573"/>
                <a:ext cx="45324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A2DD90B-6F47-71ED-2AA3-E9C7471CA1E3}"/>
                  </a:ext>
                </a:extLst>
              </p14:cNvPr>
              <p14:cNvContentPartPr/>
              <p14:nvPr/>
            </p14:nvContentPartPr>
            <p14:xfrm>
              <a:off x="3453880" y="2870413"/>
              <a:ext cx="703080" cy="211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A2DD90B-6F47-71ED-2AA3-E9C7471CA1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00240" y="2762413"/>
                <a:ext cx="810720" cy="42732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D42F79FF-220D-01E6-9145-D1EA72DDE3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6552" y="352153"/>
            <a:ext cx="9009246" cy="618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0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36576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— Dockerization, Containerization &amp; CI/CD Pipeline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320040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— Azure DevOps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1783080" cy="9144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17830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288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Push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(ADO Repo)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92808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909C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67128" y="1188720"/>
            <a:ext cx="1783080" cy="914400"/>
          </a:xfrm>
          <a:prstGeom prst="rect">
            <a:avLst/>
          </a:prstGeom>
          <a:solidFill>
            <a:srgbClr val="4527A0">
              <a:alpha val="20000"/>
            </a:srgbClr>
          </a:solidFill>
          <a:ln w="12700">
            <a:solidFill>
              <a:srgbClr val="4527A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167128" y="1188720"/>
            <a:ext cx="1783080" cy="64008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167128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(Docker)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77056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909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51376" y="1188720"/>
            <a:ext cx="1783080" cy="914400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51376" y="1188720"/>
            <a:ext cx="178308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51376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(pytest)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61304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909C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35624" y="1188720"/>
            <a:ext cx="1783080" cy="914400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35624" y="1188720"/>
            <a:ext cx="17830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35624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Image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(ACR)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45552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909C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19872" y="1188720"/>
            <a:ext cx="1783080" cy="914400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19872" y="1188720"/>
            <a:ext cx="178308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19872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(Container Apps)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29800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909C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04120" y="1188720"/>
            <a:ext cx="1783080" cy="914400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104120" y="1188720"/>
            <a:ext cx="178308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10412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2880" y="2304288"/>
            <a:ext cx="530352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82880" y="23042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— Azure Cloud (RECOMMENDED)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2304288"/>
            <a:ext cx="603504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943600" y="23042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— On-Premises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2715768"/>
            <a:ext cx="530352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82880" y="2715768"/>
            <a:ext cx="64008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47472" y="2770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Phase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" y="3063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App Service Free Tier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Docker needed  •  Free URL: yourapp.azurewebsites.net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HTTPS enforced  •  Zero cost for demo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2880" y="3977640"/>
            <a:ext cx="530352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82880" y="3977640"/>
            <a:ext cx="64008" cy="1188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47472" y="4032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" y="43251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Container Apps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FastAPI packaged as Docker container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Auto-scales on demand  •  Azure APIM for auth + routing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~$50-150/month moderate usage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2880" y="5239512"/>
            <a:ext cx="530352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82880" y="5239512"/>
            <a:ext cx="64008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47472" y="5294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(if needed)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7472" y="558698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(Kubernetes)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if 10+ microservices needed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orchestration  •  Dedicated DevOps engineer required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0" y="2715768"/>
            <a:ext cx="60350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943600" y="2715768"/>
            <a:ext cx="64008" cy="8686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108192" y="276148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08192" y="3035808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app packaged as Docker image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any VM — Linux or Windows Server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43600" y="3648456"/>
            <a:ext cx="60350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943600" y="3648456"/>
            <a:ext cx="64008" cy="86868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108192" y="3694176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2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08192" y="3968496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or Kong behind internal firewall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routing, auth, SSL termination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43600" y="4581144"/>
            <a:ext cx="60350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943600" y="4581144"/>
            <a:ext cx="6400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108192" y="4626864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108192" y="4901184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VM + Docker Compose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 dependency — fully internal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43600" y="5513832"/>
            <a:ext cx="60350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5943600" y="5513832"/>
            <a:ext cx="6400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108192" y="555955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108192" y="5833872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setup takes weeks vs hours on Azure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auto-scaling — fixed capacity planning needed</a:t>
            </a:r>
            <a:endParaRPr lang="en-US" sz="9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3B78685-C9E1-4C8E-5AAC-4B4B7A14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533510"/>
            <a:ext cx="3177714" cy="287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36576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— Monitoring, Logging &amp; Audit Trail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5486400" cy="320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Observability is Non-Negotiable for Healthcare 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170432"/>
            <a:ext cx="1179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requires a complete audit trail of every access to patient-related data. Every API call, ADO fetch, Presidio detection, and LLM call must be logged.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664208"/>
            <a:ext cx="4114800" cy="320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288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Logged (HIPAA Requirement)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103120"/>
            <a:ext cx="640080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21031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API request — timestamp, user ID, endpoint, status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670048"/>
            <a:ext cx="64008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6700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ADO data fetch — work item ID, fields accessed, who requested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3236976"/>
            <a:ext cx="640080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323697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Presidio detection — entity type detected, hash of original value (NOT the value itself)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803904"/>
            <a:ext cx="64008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80390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LLM call — prompt hash, token count, model used, response 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4370832"/>
            <a:ext cx="640080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43708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authentication event — login, logout, failed attempts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4937760"/>
            <a:ext cx="64008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9377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RBAC decision — access granted or denied, role used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1664208"/>
            <a:ext cx="516636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12280" y="166420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Technology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2103120"/>
            <a:ext cx="5166360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812280" y="2103120"/>
            <a:ext cx="6400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784080" y="2176272"/>
            <a:ext cx="2011680" cy="27432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78408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RECOMMENDED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76872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Application Insights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76872" y="24963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tracking, performance monitoring, live metrics stream, failure analysis. Free up to 5GB/month.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12280" y="3456432"/>
            <a:ext cx="5166360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812280" y="3456432"/>
            <a:ext cx="6400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784080" y="3529584"/>
            <a:ext cx="2011680" cy="27432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784080" y="3529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RECOMMENDED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76872" y="3502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76872" y="384962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monitoring across all Azure services. Alerts, dashboards, log queries.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4809744"/>
            <a:ext cx="5166360" cy="126187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812280" y="4809744"/>
            <a:ext cx="64008" cy="126187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9784080" y="4882896"/>
            <a:ext cx="2011680" cy="274320"/>
          </a:xfrm>
          <a:prstGeom prst="rect">
            <a:avLst/>
          </a:prstGeom>
          <a:solidFill>
            <a:srgbClr val="4527A0">
              <a:alpha val="30000"/>
            </a:srgbClr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784080" y="4882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52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Phase 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76872" y="4855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2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/ ELK Stack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76872" y="520293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log aggregation and analysis. Advanced HIPAA audit reporting at scale.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73736" y="5546344"/>
            <a:ext cx="640080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-18288" y="5547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Strategy — Reduces ADO load and Azure OpenAI cost</a:t>
            </a:r>
            <a:endParaRPr lang="en-US" sz="10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457B1DD-E75B-EF03-CE71-7370643F0F00}"/>
              </a:ext>
            </a:extLst>
          </p:cNvPr>
          <p:cNvGrpSpPr/>
          <p:nvPr/>
        </p:nvGrpSpPr>
        <p:grpSpPr>
          <a:xfrm>
            <a:off x="210312" y="5918100"/>
            <a:ext cx="2953512" cy="418692"/>
            <a:chOff x="173736" y="5957112"/>
            <a:chExt cx="2779776" cy="577904"/>
          </a:xfrm>
        </p:grpSpPr>
        <p:sp>
          <p:nvSpPr>
            <p:cNvPr id="45" name="Shape 43"/>
            <p:cNvSpPr/>
            <p:nvPr/>
          </p:nvSpPr>
          <p:spPr>
            <a:xfrm>
              <a:off x="173736" y="5962600"/>
              <a:ext cx="2779776" cy="539496"/>
            </a:xfrm>
            <a:prstGeom prst="rect">
              <a:avLst/>
            </a:prstGeom>
            <a:solidFill>
              <a:srgbClr val="E0F2F1"/>
            </a:solidFill>
            <a:ln w="12700">
              <a:solidFill>
                <a:srgbClr val="00897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 44"/>
            <p:cNvSpPr/>
            <p:nvPr/>
          </p:nvSpPr>
          <p:spPr>
            <a:xfrm>
              <a:off x="246888" y="5957112"/>
              <a:ext cx="1828800" cy="321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89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 case details</a:t>
              </a:r>
              <a:endParaRPr lang="en-US" sz="95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2093976" y="5957112"/>
              <a:ext cx="777240" cy="321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E651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 min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46888" y="6213144"/>
              <a:ext cx="2651760" cy="321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Very frequent reads — rarely changes</a:t>
              </a:r>
              <a:endParaRPr lang="en-US" sz="85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198DBC5-5E92-0B7A-31D6-5E6813391D6C}"/>
              </a:ext>
            </a:extLst>
          </p:cNvPr>
          <p:cNvGrpSpPr/>
          <p:nvPr/>
        </p:nvGrpSpPr>
        <p:grpSpPr>
          <a:xfrm>
            <a:off x="3243071" y="5885327"/>
            <a:ext cx="2910841" cy="451465"/>
            <a:chOff x="3182112" y="5990032"/>
            <a:chExt cx="2779776" cy="602792"/>
          </a:xfrm>
        </p:grpSpPr>
        <p:sp>
          <p:nvSpPr>
            <p:cNvPr id="49" name="Shape 47"/>
            <p:cNvSpPr/>
            <p:nvPr/>
          </p:nvSpPr>
          <p:spPr>
            <a:xfrm>
              <a:off x="3182112" y="6053328"/>
              <a:ext cx="2779776" cy="539496"/>
            </a:xfrm>
            <a:prstGeom prst="rect">
              <a:avLst/>
            </a:prstGeom>
            <a:solidFill>
              <a:srgbClr val="E0F2F1"/>
            </a:solidFill>
            <a:ln w="12700">
              <a:solidFill>
                <a:srgbClr val="00897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 48"/>
            <p:cNvSpPr/>
            <p:nvPr/>
          </p:nvSpPr>
          <p:spPr>
            <a:xfrm>
              <a:off x="3246120" y="5990032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89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Coverage gap analysis</a:t>
              </a:r>
              <a:endParaRPr lang="en-US" sz="95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102352" y="6080760"/>
              <a:ext cx="777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E651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30 min</a:t>
              </a:r>
              <a:endParaRPr lang="en-US" sz="10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3255264" y="6336792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Expensive ADO query — slow-changing</a:t>
              </a:r>
              <a:endParaRPr lang="en-US" sz="85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4B0713A-EA53-4B75-4EF6-FA3482FCD065}"/>
              </a:ext>
            </a:extLst>
          </p:cNvPr>
          <p:cNvGrpSpPr/>
          <p:nvPr/>
        </p:nvGrpSpPr>
        <p:grpSpPr>
          <a:xfrm>
            <a:off x="6208776" y="5909589"/>
            <a:ext cx="2953512" cy="463779"/>
            <a:chOff x="6181344" y="6053328"/>
            <a:chExt cx="2862072" cy="539496"/>
          </a:xfrm>
        </p:grpSpPr>
        <p:sp>
          <p:nvSpPr>
            <p:cNvPr id="53" name="Shape 51"/>
            <p:cNvSpPr/>
            <p:nvPr/>
          </p:nvSpPr>
          <p:spPr>
            <a:xfrm>
              <a:off x="6181344" y="6053328"/>
              <a:ext cx="2862072" cy="539496"/>
            </a:xfrm>
            <a:prstGeom prst="rect">
              <a:avLst/>
            </a:prstGeom>
            <a:solidFill>
              <a:srgbClr val="E0F2F1"/>
            </a:solidFill>
            <a:ln w="12700">
              <a:solidFill>
                <a:srgbClr val="00897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Text 52"/>
            <p:cNvSpPr/>
            <p:nvPr/>
          </p:nvSpPr>
          <p:spPr>
            <a:xfrm>
              <a:off x="6254496" y="608076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89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Sprint work items</a:t>
              </a:r>
              <a:endParaRPr lang="en-US" sz="95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8101584" y="6080760"/>
              <a:ext cx="777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E651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 min</a:t>
              </a:r>
              <a:endParaRPr lang="en-US" sz="10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6254496" y="6336792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Changes during active sprints</a:t>
              </a:r>
              <a:endParaRPr lang="en-US" sz="85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08DDDA1-0B3F-3991-B43F-EBF4B38F04F4}"/>
              </a:ext>
            </a:extLst>
          </p:cNvPr>
          <p:cNvGrpSpPr/>
          <p:nvPr/>
        </p:nvGrpSpPr>
        <p:grpSpPr>
          <a:xfrm>
            <a:off x="9237777" y="5898066"/>
            <a:ext cx="2724912" cy="463779"/>
            <a:chOff x="9180576" y="6053328"/>
            <a:chExt cx="2828544" cy="572416"/>
          </a:xfrm>
        </p:grpSpPr>
        <p:sp>
          <p:nvSpPr>
            <p:cNvPr id="57" name="Shape 55"/>
            <p:cNvSpPr/>
            <p:nvPr/>
          </p:nvSpPr>
          <p:spPr>
            <a:xfrm>
              <a:off x="9180576" y="6053328"/>
              <a:ext cx="2828544" cy="572416"/>
            </a:xfrm>
            <a:prstGeom prst="rect">
              <a:avLst/>
            </a:prstGeom>
            <a:solidFill>
              <a:srgbClr val="E0F2F1"/>
            </a:solidFill>
            <a:ln w="12700">
              <a:solidFill>
                <a:srgbClr val="00897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 56"/>
            <p:cNvSpPr/>
            <p:nvPr/>
          </p:nvSpPr>
          <p:spPr>
            <a:xfrm>
              <a:off x="9253728" y="608076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089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LLM responses</a:t>
              </a:r>
              <a:endParaRPr lang="en-US" sz="95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11100816" y="6080760"/>
              <a:ext cx="7772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E651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 hour</a:t>
              </a:r>
              <a:endParaRPr lang="en-US" sz="10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9253728" y="6336792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Same prompt = same answer = big cost saving</a:t>
              </a:r>
              <a:endParaRPr lang="en-US" sz="850" dirty="0"/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CA02BCFF-A9B3-A1C8-DEEC-994A4DE90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57" y="6554684"/>
            <a:ext cx="2770631" cy="2510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36576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Technology Stack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3840480" cy="411480"/>
          </a:xfrm>
          <a:prstGeom prst="rect">
            <a:avLst/>
          </a:prstGeom>
          <a:solidFill>
            <a:srgbClr val="2E7D32">
              <a:alpha val="30000"/>
            </a:srgbClr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 (Already Developed ✅)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28016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(Core implementation)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70078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Presidio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(PII/PHI detection — Open Source MIT)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12140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Faker Library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(Deterministic masking)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254203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Hashing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(Consistent dummy values)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296265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Engine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(Custom pattern detection)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60520" y="804672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60520" y="804672"/>
            <a:ext cx="3840480" cy="41148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51960" y="804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Microservice Layer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70248" y="128016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(Open Source — Build service)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70248" y="170078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 / Gunicorn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(Run server)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70248" y="212140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(Containerization)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0248" y="254203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 API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(Work item integration)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70248" y="2962656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950" b="1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950" b="1" dirty="0">
              <a:solidFill>
                <a:srgbClr val="21212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950" b="1" dirty="0">
              <a:solidFill>
                <a:srgbClr val="21212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Foundry</a:t>
            </a:r>
            <a:endParaRPr lang="en-US" sz="950" b="1" dirty="0">
              <a:solidFill>
                <a:srgbClr val="78909C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38160" y="804672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138160" y="804672"/>
            <a:ext cx="3840480" cy="411480"/>
          </a:xfrm>
          <a:prstGeom prst="rect">
            <a:avLst/>
          </a:prstGeom>
          <a:solidFill>
            <a:srgbClr val="4527A0">
              <a:alpha val="30000"/>
            </a:srgbClr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9600" y="804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&amp; Routing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47888" y="128016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 Management / APIM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(Auth, throttling, routing — Licensed)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47888" y="170078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(Open Source alternative)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47888" y="212140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(Open Source — On-prem gateway)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47888" y="254203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Cache for Redis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47888" y="296265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Entra ID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(Auth + RBAC — included in M365)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639312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82880" y="3639312"/>
            <a:ext cx="3840480" cy="411480"/>
          </a:xfrm>
          <a:prstGeom prst="rect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3639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2608" y="41148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App Service Free Tier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(POC — zero cost)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2608" y="453542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Container Apps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(Production — PAYG)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495604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/ Kubernetes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(Scale phase only)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2608" y="537667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VM + Docker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(Fallback option)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60520" y="3639312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160520" y="3639312"/>
            <a:ext cx="3840480" cy="411480"/>
          </a:xfrm>
          <a:prstGeom prst="rect">
            <a:avLst/>
          </a:prstGeom>
          <a:solidFill>
            <a:srgbClr val="E65100">
              <a:alpha val="30000"/>
            </a:srgbClr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251960" y="3639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Audit Logging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70248" y="41148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Application Insights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(Free up to 5GB/month)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70248" y="453542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(Centralized dashboards + alerts)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70248" y="495604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/ ELK Stack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(Enterprise audit — Phase 3)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70248" y="537667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(HIPAA traceability — every call logged)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38160" y="3639312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38160" y="3639312"/>
            <a:ext cx="3840480" cy="411480"/>
          </a:xfrm>
          <a:prstGeom prst="rect">
            <a:avLst/>
          </a:prstGeom>
          <a:solidFill>
            <a:srgbClr val="B71C1C">
              <a:alpha val="30000"/>
            </a:srgbClr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229600" y="3639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47888" y="41148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(Store PAT + secrets securely — free standard)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47888" y="453542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/ Managed Identity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(Passwordless auth)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247888" y="495604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Endpoints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(Foundry not exposed to internet)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47888" y="537667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r>
              <a:rPr lang="en-US" sz="9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(Dev cannot see QA data — enforced at Entra ID level)</a:t>
            </a:r>
            <a:endParaRPr lang="en-US" sz="9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A277B93-BBFA-AED0-6F2B-864A0493C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533510"/>
            <a:ext cx="3177714" cy="2879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36576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 — Phased Delivery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23360" y="960120"/>
            <a:ext cx="45720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80" y="1143000"/>
            <a:ext cx="3794760" cy="499364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82880" y="1143000"/>
            <a:ext cx="3840480" cy="502920"/>
          </a:xfrm>
          <a:prstGeom prst="rect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143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Foundation &amp; POC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1719072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ADO connection live and working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228600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Presidio (Agent 0) sanitizing all ADO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285292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Test Case Lookup working today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" y="341985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Coverage Gaps working today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" y="3986784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Sprint Summary working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4553712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Chat interface deployed (App Service Free Tier)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512064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Share via web URL — accessible to all QA team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" y="6209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Working QA features with no AI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01000" y="960120"/>
            <a:ext cx="457200" cy="0"/>
          </a:xfrm>
          <a:prstGeom prst="line">
            <a:avLst/>
          </a:prstGeom>
          <a:noFill/>
          <a:ln w="190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160520" y="1143000"/>
            <a:ext cx="3886200" cy="4993640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160520" y="1143000"/>
            <a:ext cx="3840480" cy="502920"/>
          </a:xfrm>
          <a:prstGeom prst="rect">
            <a:avLst/>
          </a:prstGeom>
          <a:solidFill>
            <a:srgbClr val="E65100">
              <a:alpha val="40000"/>
            </a:srgbClr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251960" y="1143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AI Activation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70248" y="1719072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Chat interface fully functional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70248" y="228600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Generate test cases from scenario description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70248" y="285292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Generate Selenium Java automation scripts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70248" y="341985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Generate user guides from ADO requirements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70248" y="3986784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Test plan AI summaries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70248" y="4553712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Azure APIM for auth + routing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70248" y="512064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Azure Monitor + App Insights logging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87952" y="61970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Requires: Azure AI Foundry access approval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138160" y="1143000"/>
            <a:ext cx="3886200" cy="4993639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138160" y="1143000"/>
            <a:ext cx="3840480" cy="502920"/>
          </a:xfrm>
          <a:prstGeom prst="rect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229600" y="1143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Production &amp; Scale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47888" y="1719072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Teams bot via Copilot Studio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47888" y="228600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All QA features fully AI-powered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47888" y="285292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Coverage analysis with AI insights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47888" y="341985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Hospital staff RAG queries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47888" y="3986784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Azure Container Apps (production hosting)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47888" y="4553712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Splunk / ELK Stack audit logging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47888" y="5120640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Full CI/CD pipeline with automated testing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38744" y="620877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production deployment</a:t>
            </a:r>
            <a:endParaRPr lang="en-US" sz="8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B38E50D-2216-3652-DEF2-7CDA5A61E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505437"/>
            <a:ext cx="3177714" cy="2879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4592" y="36576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82880" y="841248"/>
            <a:ext cx="3840480" cy="64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1024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356616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755648"/>
            <a:ext cx="3566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PHI/PII leakage to AI tools. HIPAA-compliant by design — not bolted on. Every request sanitized before AI sees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841248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60520" y="841248"/>
            <a:ext cx="3840480" cy="64008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9768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1024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52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645920"/>
            <a:ext cx="356616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97680" y="1755648"/>
            <a:ext cx="3566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HIPAA, SOC2, GDPR readiness. Complete audit trail of every data access. BAA with Microsoft Azure.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841248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38160" y="841248"/>
            <a:ext cx="384048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7532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869680" y="1024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75320" y="1645920"/>
            <a:ext cx="356616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75320" y="1755648"/>
            <a:ext cx="3566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adoption of Azure AI Foundry, GPT-4o, and Copilot tools across the QA team. No PHI risk to AI vendors.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3675888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82880" y="3675888"/>
            <a:ext cx="384048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3858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Productivity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4480560"/>
            <a:ext cx="356616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" y="4590288"/>
            <a:ext cx="3566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generated in seconds. Automation scripts from plain English. Coverage gaps found instantly. Sprint summaries on demand.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60520" y="3675888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160520" y="3675888"/>
            <a:ext cx="38404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9768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892040" y="3858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0" y="4480560"/>
            <a:ext cx="356616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297680" y="4590288"/>
            <a:ext cx="3566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Presidio service used across QA, Dev, and any future system. Central PHI governance layer for the whole organisation.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38160" y="3675888"/>
            <a:ext cx="3840480" cy="2724912"/>
          </a:xfrm>
          <a:prstGeom prst="rect">
            <a:avLst/>
          </a:prstGeom>
          <a:solidFill>
            <a:srgbClr val="FAFAFA"/>
          </a:solidFill>
          <a:ln w="1270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138160" y="3675888"/>
            <a:ext cx="38404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27532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869680" y="3858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275320" y="4480560"/>
            <a:ext cx="3566160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275320" y="4590288"/>
            <a:ext cx="3566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ADO, logs, emails, documents, any future system. Azure Container Apps auto-scales on demand. No manual capacity planning.</a:t>
            </a:r>
            <a:endParaRPr lang="en-US" sz="10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21C1499-24F7-F79F-DD91-25C3CC62D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505437"/>
            <a:ext cx="3177714" cy="2879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E253E1F8-F5BE-3271-55F9-29846C5A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">
            <a:extLst>
              <a:ext uri="{FF2B5EF4-FFF2-40B4-BE49-F238E27FC236}">
                <a16:creationId xmlns:a16="http://schemas.microsoft.com/office/drawing/2014/main" id="{1C97FE0C-EDB1-1D4B-9382-4BF347B233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419225" y="1428750"/>
            <a:ext cx="10252627" cy="3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dirty="0">
                <a:latin typeface="Montserrat Medium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5829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1409</Words>
  <Application>Microsoft Office PowerPoint</Application>
  <PresentationFormat>Widescreen</PresentationFormat>
  <Paragraphs>241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Georgia</vt:lpstr>
      <vt:lpstr>Montserrat</vt:lpstr>
      <vt:lpstr>Montserrat Light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SmartCare QA Testing Assistant Platform</dc:title>
  <dc:subject>PptxGenJS Presentation</dc:subject>
  <dc:creator>PptxGenJS</dc:creator>
  <cp:lastModifiedBy>Doddabasayya Shivayogimath</cp:lastModifiedBy>
  <cp:revision>29</cp:revision>
  <dcterms:created xsi:type="dcterms:W3CDTF">2026-04-06T04:51:15Z</dcterms:created>
  <dcterms:modified xsi:type="dcterms:W3CDTF">2026-04-07T13:21:17Z</dcterms:modified>
</cp:coreProperties>
</file>